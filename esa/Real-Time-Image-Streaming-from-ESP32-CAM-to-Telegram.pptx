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2D68CF-A9FA-4F1C-A379-DFDEBEA3DFC3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739C5D-2C83-4BA6-9595-4361AC1282AA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20CC3A-EB85-490D-969F-AE07E59C613A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0052A9-9E60-4EF6-A27E-08FC480CF200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2AF43-AEEE-420D-B366-1EDDD33FAC83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4B7DD7-9930-478F-9EC3-CAA3CAABBE0C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5639F2-3766-40C8-A1BD-AEC35484CDA7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FD3011-0DBB-43AE-8208-E86518ECCDCF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1242EF-9573-400D-BE13-372F965225C7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DEBD68-4AF6-4092-BDAE-2777B8EBF905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2D3A45-B2F1-4636-A3B4-52B46EE17968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espressif.com/en/products/socs/esp32" TargetMode="External"/><Relationship Id="rId2" Type="http://schemas.openxmlformats.org/officeDocument/2006/relationships/hyperlink" Target="https://core.telegram.org/bots/api" TargetMode="External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0"/>
          <p:cNvSpPr/>
          <p:nvPr/>
        </p:nvSpPr>
        <p:spPr>
          <a:xfrm>
            <a:off x="793800" y="250992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Real-Time Image Streaming from ESP32-CAM to Telegram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3800" y="4267800"/>
            <a:ext cx="755568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10"/>
          <p:cNvSpPr/>
          <p:nvPr/>
        </p:nvSpPr>
        <p:spPr>
          <a:xfrm>
            <a:off x="793800" y="250992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TEAM MEMBERS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793800" y="4267800"/>
            <a:ext cx="755568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2310040095 -  Sayooj S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2310040076 – Venkat Prasad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2310040132 – Ravi Ratna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2310040089 – Sai Teja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793800" y="2358360"/>
            <a:ext cx="103888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Introduction to ESP32-CAM and IoT Surveillance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793800" y="36342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ESP32-CAM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793800" y="4215240"/>
            <a:ext cx="624384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The ESP32-CAM is a low-cost microcontroller with built-in Wi-Fi and a camera module, making it ideal for IoT applications. It features a 2MP OV2640 camera sensor and supports deep sleep for low-power operation.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599600" y="36342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IoT Surveillance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7599600" y="4215240"/>
            <a:ext cx="624384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IoT-based surveillance offers flexibility and ease of deployment compared to traditional CCTV systems. It enables real-time access to images and videos from anywhere with internet connectivity.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6280200" y="97920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Telegram as an IoT Communication Platform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280200" y="2736720"/>
            <a:ext cx="755568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Telegram is a cloud-based messaging platform that supports bot automation, making it an excellent tool for IoT applications. Telegram bots can handle API-based interactions, enabling the ESP32-CAM to send captured images directly to users.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6280200" y="4698720"/>
            <a:ext cx="509760" cy="50976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6480720" y="4783680"/>
            <a:ext cx="1083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28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1</a:t>
            </a:r>
            <a:endParaRPr b="0" lang="en-IN" sz="2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7017480" y="469872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Advantages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017480" y="5189400"/>
            <a:ext cx="681876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Eliminates the need for third-party cloud services and reduces latency in data transmission.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6280200" y="6396840"/>
            <a:ext cx="509760" cy="50976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6453000" y="6482160"/>
            <a:ext cx="1641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28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2</a:t>
            </a:r>
            <a:endParaRPr b="0" lang="en-IN" sz="2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7017480" y="63968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Cost-Effective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7017480" y="6887520"/>
            <a:ext cx="68187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Offers a cost-effective alternative to traditional surveillance systems.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776520" y="610200"/>
            <a:ext cx="7590240" cy="13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51"/>
              </a:lnSpc>
              <a:tabLst>
                <a:tab algn="l" pos="0"/>
              </a:tabLst>
            </a:pPr>
            <a:r>
              <a:rPr b="0" lang="en-US" sz="43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Implementation of ESP32-CAM with Telegram</a:t>
            </a:r>
            <a:endParaRPr b="0" lang="en-IN" sz="4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776520" y="2329560"/>
            <a:ext cx="165600" cy="834120"/>
          </a:xfrm>
          <a:prstGeom prst="roundRect">
            <a:avLst>
              <a:gd name="adj" fmla="val 2001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1275480" y="2329560"/>
            <a:ext cx="297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Setting Up the Telegram Bot</a:t>
            </a:r>
            <a:endParaRPr b="0" lang="en-IN" sz="2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1275480" y="2809440"/>
            <a:ext cx="709128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Users create a bot using BotFather and obtain an API token.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1109160" y="3386160"/>
            <a:ext cx="165600" cy="1189080"/>
          </a:xfrm>
          <a:prstGeom prst="roundRect">
            <a:avLst>
              <a:gd name="adj" fmla="val 2001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608480" y="3386160"/>
            <a:ext cx="3126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Programming the ESP32-CAM</a:t>
            </a:r>
            <a:endParaRPr b="0" lang="en-IN" sz="2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1608480" y="3866040"/>
            <a:ext cx="675828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The microcontroller is programmed to capture images upon receiving Telegram commands.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1442160" y="4798080"/>
            <a:ext cx="165600" cy="1189080"/>
          </a:xfrm>
          <a:prstGeom prst="roundRect">
            <a:avLst>
              <a:gd name="adj" fmla="val 2001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1941480" y="4798080"/>
            <a:ext cx="3934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Image Processing and Transmission</a:t>
            </a:r>
            <a:endParaRPr b="0" lang="en-IN" sz="2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1941480" y="5277960"/>
            <a:ext cx="642528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The ESP32-CAM processes and compresses images before sending them via Telegram.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1775160" y="6209640"/>
            <a:ext cx="165600" cy="1189080"/>
          </a:xfrm>
          <a:prstGeom prst="roundRect">
            <a:avLst>
              <a:gd name="adj" fmla="val 2001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2274120" y="6209640"/>
            <a:ext cx="2773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Security Features</a:t>
            </a:r>
            <a:endParaRPr b="0" lang="en-IN" sz="2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2274120" y="6689520"/>
            <a:ext cx="609264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The system includes authentication to prevent unauthorized access.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14"/>
          <p:cNvSpPr/>
          <p:nvPr/>
        </p:nvSpPr>
        <p:spPr>
          <a:xfrm>
            <a:off x="793800" y="250992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COMPONENTS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793800" y="4267800"/>
            <a:ext cx="755568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- ESP32CAM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- FTDI MODULE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- TELEGRAM ACCOUNT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0"/>
          <p:cNvSpPr/>
          <p:nvPr/>
        </p:nvSpPr>
        <p:spPr>
          <a:xfrm>
            <a:off x="630000" y="777960"/>
            <a:ext cx="724716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0" lang="en-US" sz="3500" spc="-34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Applications of ESP32-CAM with Telegram</a:t>
            </a:r>
            <a:endParaRPr b="0" lang="en-IN" sz="3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630000" y="1610280"/>
            <a:ext cx="7883280" cy="1324440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810000" y="1790640"/>
            <a:ext cx="228096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7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Home Security Monitoring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810000" y="2179800"/>
            <a:ext cx="7522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Users can install the ESP32-CAM at entrances and receive real-time images upon motion detection.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630000" y="3115800"/>
            <a:ext cx="7883280" cy="1324440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810000" y="3295800"/>
            <a:ext cx="326196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7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Agriculture and Livestock Monitoring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10000" y="3684960"/>
            <a:ext cx="7522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Farmers can place ESP32-CAM modules in remote fields or livestock areas to monitor crop health or animal activity.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630000" y="4620960"/>
            <a:ext cx="7883280" cy="1324440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810000" y="4800960"/>
            <a:ext cx="224964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7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Industrial Surveillance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10000" y="5190120"/>
            <a:ext cx="7522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Factories and warehouses can use the ESP32-CAM to monitor machinery, detect malfunctions, and ensure workplace safety.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630000" y="6126480"/>
            <a:ext cx="7883280" cy="1324440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810000" y="6306480"/>
            <a:ext cx="334836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7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Wildlife and Environmental Monitoring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810000" y="6695640"/>
            <a:ext cx="7522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400" spc="-28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Researchers studying wildlife or environmental changes can deploy ESP32-CAM modules in remote locations.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0"/>
          <p:cNvSpPr/>
          <p:nvPr/>
        </p:nvSpPr>
        <p:spPr>
          <a:xfrm>
            <a:off x="6215760" y="706680"/>
            <a:ext cx="752184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100"/>
              </a:lnSpc>
              <a:tabLst>
                <a:tab algn="l" pos="0"/>
              </a:tabLst>
            </a:pPr>
            <a:r>
              <a:rPr b="0" lang="en-US" sz="4100" spc="-40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Future Enhancements and Scalability</a:t>
            </a:r>
            <a:endParaRPr b="0" lang="en-IN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3" name="Image 1" descr="preencoded.png"/>
          <p:cNvPicPr/>
          <p:nvPr/>
        </p:nvPicPr>
        <p:blipFill>
          <a:blip r:embed="rId2"/>
          <a:stretch/>
        </p:blipFill>
        <p:spPr>
          <a:xfrm>
            <a:off x="6215760" y="1670400"/>
            <a:ext cx="1041120" cy="15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"/>
          <p:cNvSpPr/>
          <p:nvPr/>
        </p:nvSpPr>
        <p:spPr>
          <a:xfrm>
            <a:off x="7570080" y="1878840"/>
            <a:ext cx="260568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20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AI-Based Object Detection</a:t>
            </a:r>
            <a:endParaRPr b="0" lang="en-IN" sz="2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7570080" y="2329200"/>
            <a:ext cx="633024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Using machine learning models to detect people, animals, or specific objects in the captured images.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3"/>
          <a:stretch/>
        </p:blipFill>
        <p:spPr>
          <a:xfrm>
            <a:off x="6215760" y="3204360"/>
            <a:ext cx="1041120" cy="15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7570080" y="3412800"/>
            <a:ext cx="29059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20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Video Streaming Capabilities</a:t>
            </a:r>
            <a:endParaRPr b="0" lang="en-IN" sz="2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570080" y="3863520"/>
            <a:ext cx="633024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Expanding the project to support live streaming instead of static image capture.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9" name="Image 3" descr="preencoded.png"/>
          <p:cNvPicPr/>
          <p:nvPr/>
        </p:nvPicPr>
        <p:blipFill>
          <a:blip r:embed="rId4"/>
          <a:stretch/>
        </p:blipFill>
        <p:spPr>
          <a:xfrm>
            <a:off x="6215760" y="4738680"/>
            <a:ext cx="1041120" cy="124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5"/>
          <p:cNvSpPr/>
          <p:nvPr/>
        </p:nvSpPr>
        <p:spPr>
          <a:xfrm>
            <a:off x="7570080" y="4946760"/>
            <a:ext cx="30852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20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Integration with Cloud Storage</a:t>
            </a:r>
            <a:endParaRPr b="0" lang="en-IN" sz="2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7570080" y="5397480"/>
            <a:ext cx="63302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Saving images on cloud platforms for later retrieval.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2" name="Image 4" descr="preencoded.png"/>
          <p:cNvPicPr/>
          <p:nvPr/>
        </p:nvPicPr>
        <p:blipFill>
          <a:blip r:embed="rId5"/>
          <a:stretch/>
        </p:blipFill>
        <p:spPr>
          <a:xfrm>
            <a:off x="6215760" y="5988960"/>
            <a:ext cx="1041120" cy="15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7"/>
          <p:cNvSpPr/>
          <p:nvPr/>
        </p:nvSpPr>
        <p:spPr>
          <a:xfrm>
            <a:off x="7570080" y="6197040"/>
            <a:ext cx="260388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20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Battery Optimization</a:t>
            </a:r>
            <a:endParaRPr b="0" lang="en-IN" sz="2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570080" y="6647760"/>
            <a:ext cx="633024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00" spc="-34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Implementing deep sleep modes to enhance battery life in remote deployments.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283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0"/>
          <p:cNvSpPr/>
          <p:nvPr/>
        </p:nvSpPr>
        <p:spPr>
          <a:xfrm>
            <a:off x="793800" y="3600360"/>
            <a:ext cx="5670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Conclusion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793800" y="464940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This project successfully demonstrated the integration of an ESP32-CAM module with a Telegram chatbot for real-time image streaming. The system offers a cost-effective and flexible solution for remote surveillance and monitoring in various applications.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793800" y="5885280"/>
            <a:ext cx="509760" cy="50976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994320" y="5970240"/>
            <a:ext cx="1083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28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1</a:t>
            </a:r>
            <a:endParaRPr b="0" lang="en-IN" sz="2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1531080" y="588528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Key Features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1531080" y="6375960"/>
            <a:ext cx="567036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Real-time image capture and transmission, remote control via Telegram commands, and potential for future enhancements.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7428600" y="5885280"/>
            <a:ext cx="509760" cy="50976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7601400" y="5970240"/>
            <a:ext cx="1641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28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2</a:t>
            </a:r>
            <a:endParaRPr b="0" lang="en-IN" sz="2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8165880" y="588528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23" strike="noStrike" u="none">
                <a:solidFill>
                  <a:srgbClr val="e0d6de"/>
                </a:solidFill>
                <a:uFillTx/>
                <a:latin typeface="Anton"/>
                <a:ea typeface="Anton"/>
              </a:rPr>
              <a:t>Future Directions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8165880" y="6375960"/>
            <a:ext cx="567036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Further development can include AI-based object detection, video streaming, cloud storage integration, and battery optimization.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793800" y="1030320"/>
            <a:ext cx="5670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45" strike="noStrike" u="none">
                <a:solidFill>
                  <a:srgbClr val="fa95af"/>
                </a:solidFill>
                <a:uFillTx/>
                <a:latin typeface="Anton"/>
                <a:ea typeface="Anton"/>
              </a:rPr>
              <a:t>References</a:t>
            </a:r>
            <a:endParaRPr b="0" lang="en-IN" sz="4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793800" y="219276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The project report draws upon various resources, including academic papers, technical documentation, and online resources. These references provide valuable insights into the ESP32-CAM, Telegram API, and related technologies.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793800" y="317376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spcBef>
                <a:spcPts val="1191"/>
              </a:spcBef>
              <a:spcAft>
                <a:spcPts val="992"/>
              </a:spcAft>
              <a:buClr>
                <a:srgbClr val="e0d6de"/>
              </a:buClr>
              <a:buFont typeface="Symbol" charset="2"/>
              <a:buChar char=""/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P. Monica, M. A. Kumar, and S. Vemulapalli, "ESP32 CAM-based Car Security System via Telegram Integration," 2023 3rd International Conference on Innovative Mechanisms for Industry Applications (ICIMIA), Bengaluru, India, Dec. 2023, pp. 1-6, doi: 10.1109/ICIMIA60377.2023.10425967. 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93800" y="397872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793800" y="478404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Espressif Systems, “ESP32-CAM Datasheet,” 2021. \[Online\]. Available: </a:t>
            </a:r>
            <a:r>
              <a:rPr b="0" lang="en-US" sz="1750" spc="-37" strike="noStrike" u="sng">
                <a:solidFill>
                  <a:srgbClr val="0563c1"/>
                </a:solidFill>
                <a:uFillTx/>
                <a:latin typeface="Fira Sans"/>
                <a:ea typeface="Fira Sans"/>
                <a:hlinkClick r:id="rId1"/>
              </a:rPr>
              <a:t>https://www.espressif.com/en/products/socs/esp32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793800" y="522612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Telegram API Documentation, “Telegram Bot API,” 2024. \[Online\]. Available: </a:t>
            </a:r>
            <a:r>
              <a:rPr b="0" lang="en-US" sz="1750" spc="-37" strike="noStrike" u="sng">
                <a:solidFill>
                  <a:srgbClr val="0563c1"/>
                </a:solidFill>
                <a:uFillTx/>
                <a:latin typeface="Fira Sans"/>
                <a:ea typeface="Fira Sans"/>
                <a:hlinkClick r:id="rId2"/>
              </a:rPr>
              <a:t>https://core.telegram.org/bots/api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793800" y="647352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e0d6de"/>
              </a:buClr>
              <a:buFont typeface="Symbol" charset="2"/>
              <a:buChar char=""/>
            </a:pPr>
            <a:r>
              <a:rPr b="0" lang="en-US" sz="1750" spc="-37" strike="noStrike" u="none">
                <a:solidFill>
                  <a:srgbClr val="e0d6de"/>
                </a:solidFill>
                <a:uFillTx/>
                <a:latin typeface="Fira Sans"/>
                <a:ea typeface="Fira Sans"/>
              </a:rPr>
              <a:t>.</a:t>
            </a:r>
            <a:endParaRPr b="0" lang="en-IN" sz="1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LibreOffice/24.8.5.2$Windows_X86_64 LibreOffice_project/fddf2685c70b461e7832239a0162a77216259f22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2025-02-28T07:50:22Z</dcterms:created>
  <dc:creator>PptxGenJS</dc:creator>
  <dc:description/>
  <dc:language>en-IN</dc:language>
  <cp:lastModifiedBy/>
  <dcterms:modified xsi:type="dcterms:W3CDTF">2025-03-01T10:55:41Z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